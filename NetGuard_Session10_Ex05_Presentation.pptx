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  <a:latin typeface="Inter"/>
              </a:defRPr>
            </a:pPr>
            <a:r>
              <a:t>NETGUARD SECURITY INCIDENT REPORT</a:t>
            </a:r>
          </a:p>
          <a:p>
            <a:pPr algn="ctr">
              <a:defRPr sz="2000">
                <a:solidFill>
                  <a:srgbClr val="C8D6E5"/>
                </a:solidFill>
                <a:latin typeface="Inter"/>
              </a:defRPr>
            </a:pPr>
            <a:r>
              <a:t>Chiến Lược Phòng Thủ 3 Tầng &amp; Quy Trình Báo Cáo</a:t>
            </a:r>
            <a:br/>
            <a:r>
              <a:t>Mã bài tập: [Tên Lớp]_[Môn Học]_Session10_Ex05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B365D"/>
                </a:solidFill>
                <a:latin typeface="Inter"/>
              </a:defRPr>
            </a:pPr>
            <a:r>
              <a:t>CHIẾN LƯỢC PHÒNG THỦ 3 TẦNG (3-TIER DEFENSE)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8495" cy="12801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000">
                <a:solidFill>
                  <a:srgbClr val="FFFFFF"/>
                </a:solidFill>
                <a:latin typeface="Inter"/>
              </a:defRPr>
            </a:pPr>
            <a:r>
              <a:t>TẦNG 1: PHÒNG THỦ BIÊN GIỚI (PERIMETER)</a:t>
            </a:r>
          </a:p>
          <a:p>
            <a:pPr algn="l">
              <a:defRPr sz="1400">
                <a:solidFill>
                  <a:srgbClr val="F5F5F5"/>
                </a:solidFill>
                <a:latin typeface="Inter"/>
              </a:defRPr>
            </a:pPr>
            <a:r>
              <a:t>Firewall, IDS/IPS, WAF - Ngăn chặn xâm nhập từ bên ngoài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383280"/>
            <a:ext cx="9448495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000">
                <a:solidFill>
                  <a:srgbClr val="FFFFFF"/>
                </a:solidFill>
                <a:latin typeface="Inter"/>
              </a:defRPr>
            </a:pPr>
            <a:r>
              <a:t>TẦNG 2: AN NINH NỘI BỘ &amp; MẠNG (INTERNAL NETWORK)</a:t>
            </a:r>
          </a:p>
          <a:p>
            <a:pPr algn="l">
              <a:defRPr sz="1400">
                <a:solidFill>
                  <a:srgbClr val="F5F5F5"/>
                </a:solidFill>
                <a:latin typeface="Inter"/>
              </a:defRPr>
            </a:pPr>
            <a:r>
              <a:t>Phân vùng VLAN, IAM, ED&amp;R - Giám sát và kiểm soát nội bộ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937760"/>
            <a:ext cx="9448495" cy="1280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000">
                <a:solidFill>
                  <a:srgbClr val="FFFFFF"/>
                </a:solidFill>
                <a:latin typeface="Inter"/>
              </a:defRPr>
            </a:pPr>
            <a:r>
              <a:t>TẦNG 3: BẢO VỆ DỮ LIỆU &amp; ỨNG DỤNG (DATA &amp; APPLICATION)</a:t>
            </a:r>
          </a:p>
          <a:p>
            <a:pPr algn="l">
              <a:defRPr sz="1400">
                <a:solidFill>
                  <a:srgbClr val="F5F5F5"/>
                </a:solidFill>
                <a:latin typeface="Inter"/>
              </a:defRPr>
            </a:pPr>
            <a:r>
              <a:t>Mã hóa Data, Backup, DLP, SOC Log - Bảo vệ tài sản cốt lõi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